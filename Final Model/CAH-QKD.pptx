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91BD7-DD6A-FA0D-4A2F-479FB55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988221" cy="2869534"/>
          </a:xfrm>
        </p:spPr>
        <p:txBody>
          <a:bodyPr>
            <a:normAutofit fontScale="90000"/>
          </a:bodyPr>
          <a:lstStyle/>
          <a:p>
            <a:r>
              <a:rPr lang="en-US" dirty="0"/>
              <a:t>CAH-QKD: Context-Adaptive Hybrid Quantum Key Distribution with Machine Learning-Based Protocol Selection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342BCD-8A61-024D-683F-9A9979EB05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4241134"/>
            <a:ext cx="8791575" cy="1494503"/>
          </a:xfrm>
        </p:spPr>
        <p:txBody>
          <a:bodyPr numCol="2">
            <a:normAutofit/>
          </a:bodyPr>
          <a:lstStyle/>
          <a:p>
            <a:r>
              <a:rPr lang="en-US" dirty="0"/>
              <a:t>By- Aayush K. </a:t>
            </a:r>
            <a:r>
              <a:rPr lang="en-US" dirty="0" err="1"/>
              <a:t>thorat</a:t>
            </a:r>
            <a:endParaRPr lang="en-US" dirty="0"/>
          </a:p>
          <a:p>
            <a:r>
              <a:rPr lang="en-US" dirty="0"/>
              <a:t>Div – Be 5</a:t>
            </a:r>
          </a:p>
          <a:p>
            <a:r>
              <a:rPr lang="en-US" dirty="0"/>
              <a:t>Batch – s5</a:t>
            </a:r>
          </a:p>
          <a:p>
            <a:r>
              <a:rPr lang="en-US" dirty="0"/>
              <a:t>Roll No. 42475</a:t>
            </a:r>
          </a:p>
          <a:p>
            <a:r>
              <a:rPr lang="en-IN" dirty="0"/>
              <a:t>Exam Seat No. </a:t>
            </a:r>
            <a:r>
              <a:rPr lang="en-IN"/>
              <a:t>B400050291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4603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EF86E-F1D4-D090-456B-41B07246A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D9179-FABC-2D23-3450-FDED9DE4F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Goal: </a:t>
            </a:r>
          </a:p>
          <a:p>
            <a:pPr lvl="1"/>
            <a:r>
              <a:rPr lang="en-US" dirty="0"/>
              <a:t>Predict (1) Secure Key Rate (SKR) and (2) Transmission efficiency for a given setup</a:t>
            </a:r>
          </a:p>
          <a:p>
            <a:pPr marL="0" indent="0">
              <a:buNone/>
            </a:pPr>
            <a:r>
              <a:rPr lang="en-US" dirty="0"/>
              <a:t>Why it matters: </a:t>
            </a:r>
          </a:p>
          <a:p>
            <a:pPr lvl="1"/>
            <a:r>
              <a:rPr lang="en-US" dirty="0"/>
              <a:t>QKD protocol choice depends on hardware + distance + environmental noise</a:t>
            </a:r>
          </a:p>
          <a:p>
            <a:pPr marL="0" indent="0">
              <a:buNone/>
            </a:pPr>
            <a:r>
              <a:rPr lang="en-US" dirty="0"/>
              <a:t>Output shown to user: </a:t>
            </a:r>
          </a:p>
          <a:p>
            <a:pPr lvl="1"/>
            <a:r>
              <a:rPr lang="en-US" dirty="0"/>
              <a:t>Top-3 protocols ranked by predicted SKR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519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D8258-3A8C-7B78-BEC3-8260775A2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the Model Learns (Inputs → Outputs)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9393F-85FE-44DB-5AD1-4584DE468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777687"/>
          </a:xfrm>
        </p:spPr>
        <p:txBody>
          <a:bodyPr numCol="2">
            <a:normAutofit/>
          </a:bodyPr>
          <a:lstStyle/>
          <a:p>
            <a:r>
              <a:rPr lang="en-IN" dirty="0"/>
              <a:t>Inputs (4 features):</a:t>
            </a:r>
          </a:p>
          <a:p>
            <a:pPr lvl="1"/>
            <a:r>
              <a:rPr lang="en-IN" dirty="0"/>
              <a:t>protocol (categorical, label-encoded)</a:t>
            </a:r>
          </a:p>
          <a:p>
            <a:pPr lvl="1"/>
            <a:r>
              <a:rPr lang="en-IN" dirty="0"/>
              <a:t>platform / architecture (categorical, label-encoded)</a:t>
            </a:r>
          </a:p>
          <a:p>
            <a:pPr lvl="1"/>
            <a:r>
              <a:rPr lang="en-IN" dirty="0" err="1"/>
              <a:t>distance_km</a:t>
            </a:r>
            <a:r>
              <a:rPr lang="en-IN" dirty="0"/>
              <a:t> (scaled)</a:t>
            </a:r>
          </a:p>
          <a:p>
            <a:pPr lvl="1"/>
            <a:r>
              <a:rPr lang="en-IN" dirty="0" err="1"/>
              <a:t>noise_factor</a:t>
            </a:r>
            <a:r>
              <a:rPr lang="en-IN" dirty="0"/>
              <a:t> (scaled)</a:t>
            </a:r>
          </a:p>
          <a:p>
            <a:r>
              <a:rPr lang="en-IN" dirty="0"/>
              <a:t>Outputs (2 regression targets):</a:t>
            </a:r>
          </a:p>
          <a:p>
            <a:pPr lvl="1"/>
            <a:r>
              <a:rPr lang="en-IN" dirty="0" err="1"/>
              <a:t>secure_key_rate</a:t>
            </a:r>
            <a:r>
              <a:rPr lang="en-IN" dirty="0"/>
              <a:t> (0–1, higher is better)</a:t>
            </a:r>
          </a:p>
          <a:p>
            <a:pPr lvl="1"/>
            <a:r>
              <a:rPr lang="en-IN" dirty="0"/>
              <a:t>transmission (0–1, channel efficiency)</a:t>
            </a:r>
          </a:p>
          <a:p>
            <a:r>
              <a:rPr lang="en-IN" dirty="0"/>
              <a:t>Multi-output regression: </a:t>
            </a:r>
          </a:p>
          <a:p>
            <a:pPr lvl="1"/>
            <a:r>
              <a:rPr lang="en-IN" dirty="0"/>
              <a:t>one model predicts both outputs together</a:t>
            </a:r>
          </a:p>
        </p:txBody>
      </p:sp>
    </p:spTree>
    <p:extLst>
      <p:ext uri="{BB962C8B-B14F-4D97-AF65-F5344CB8AC3E}">
        <p14:creationId xmlns:p14="http://schemas.microsoft.com/office/powerpoint/2010/main" val="2686022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4705B-14B7-A450-C7F9-FA0815F6E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Data Sources &amp; Coverage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526D0-AB75-6112-D833-B115112E5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lnSpcReduction="10000"/>
          </a:bodyPr>
          <a:lstStyle/>
          <a:p>
            <a:r>
              <a:rPr lang="en-IN" dirty="0"/>
              <a:t>Training data: multiple CSV datasets (one or more per protocol family)</a:t>
            </a:r>
          </a:p>
          <a:p>
            <a:r>
              <a:rPr lang="en-IN" dirty="0"/>
              <a:t>Protocols supported (10): </a:t>
            </a:r>
          </a:p>
          <a:p>
            <a:pPr lvl="1"/>
            <a:r>
              <a:rPr lang="en-IN" dirty="0"/>
              <a:t>AB-QKD, B92, BB84, BBM92, DS6-QKD, Decoy-BB84, E91, EEPM-QKD, SARG04, Six-State</a:t>
            </a:r>
          </a:p>
          <a:p>
            <a:r>
              <a:rPr lang="en-IN" dirty="0"/>
              <a:t>Architectures supported (4): </a:t>
            </a:r>
          </a:p>
          <a:p>
            <a:pPr lvl="1"/>
            <a:r>
              <a:rPr lang="en-IN" dirty="0" err="1"/>
              <a:t>ionq_aria</a:t>
            </a:r>
            <a:r>
              <a:rPr lang="en-IN" dirty="0"/>
              <a:t>, </a:t>
            </a:r>
            <a:r>
              <a:rPr lang="en-IN" dirty="0" err="1"/>
              <a:t>ionq_harmony</a:t>
            </a:r>
            <a:r>
              <a:rPr lang="en-IN" dirty="0"/>
              <a:t>, rigetti_aspen_m3, </a:t>
            </a:r>
            <a:r>
              <a:rPr lang="en-IN" dirty="0" err="1"/>
              <a:t>oqc_lucy</a:t>
            </a:r>
            <a:endParaRPr lang="en-IN" dirty="0"/>
          </a:p>
          <a:p>
            <a:r>
              <a:rPr lang="en-IN" dirty="0"/>
              <a:t>Dataset size (from saved stats): </a:t>
            </a:r>
          </a:p>
          <a:p>
            <a:pPr lvl="1"/>
            <a:r>
              <a:rPr lang="en-IN" dirty="0"/>
              <a:t>Total samples = 40,000</a:t>
            </a:r>
          </a:p>
          <a:p>
            <a:r>
              <a:rPr lang="en-IN" dirty="0"/>
              <a:t>Observed ranges:</a:t>
            </a:r>
          </a:p>
          <a:p>
            <a:pPr lvl="1"/>
            <a:r>
              <a:rPr lang="en-IN" dirty="0"/>
              <a:t>Distance range: 5.0–250.0 km</a:t>
            </a:r>
          </a:p>
          <a:p>
            <a:pPr lvl="1"/>
            <a:r>
              <a:rPr lang="en-IN" dirty="0"/>
              <a:t>Noise range: 1.0–2.5</a:t>
            </a:r>
          </a:p>
          <a:p>
            <a:pPr lvl="1"/>
            <a:r>
              <a:rPr lang="en-IN" dirty="0"/>
              <a:t>Secure key rate range: 0.0–0.5713</a:t>
            </a:r>
          </a:p>
          <a:p>
            <a:pPr lvl="1"/>
            <a:r>
              <a:rPr lang="en-IN" dirty="0"/>
              <a:t>transmission range: 0.00001–0.7943</a:t>
            </a:r>
          </a:p>
        </p:txBody>
      </p:sp>
    </p:spTree>
    <p:extLst>
      <p:ext uri="{BB962C8B-B14F-4D97-AF65-F5344CB8AC3E}">
        <p14:creationId xmlns:p14="http://schemas.microsoft.com/office/powerpoint/2010/main" val="3870156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8317B-1CDA-ABE1-EE65-3EF0BB776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Preprocessing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0072F-42C7-8BC0-5038-B7D036061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10047698" cy="3364732"/>
          </a:xfrm>
        </p:spPr>
        <p:txBody>
          <a:bodyPr numCol="2">
            <a:normAutofit fontScale="85000" lnSpcReduction="20000"/>
          </a:bodyPr>
          <a:lstStyle/>
          <a:p>
            <a:r>
              <a:rPr lang="en-IN" dirty="0"/>
              <a:t>Load all CSVs from data/ using required columns:</a:t>
            </a:r>
          </a:p>
          <a:p>
            <a:pPr lvl="1"/>
            <a:r>
              <a:rPr lang="en-IN" dirty="0"/>
              <a:t>[protocol, platform, </a:t>
            </a:r>
            <a:r>
              <a:rPr lang="en-IN" dirty="0" err="1"/>
              <a:t>distance_km</a:t>
            </a:r>
            <a:r>
              <a:rPr lang="en-IN" dirty="0"/>
              <a:t>, </a:t>
            </a:r>
            <a:r>
              <a:rPr lang="en-IN" dirty="0" err="1"/>
              <a:t>noise_factor</a:t>
            </a:r>
            <a:r>
              <a:rPr lang="en-IN" dirty="0"/>
              <a:t>, </a:t>
            </a:r>
            <a:r>
              <a:rPr lang="en-IN" dirty="0" err="1"/>
              <a:t>secure_key_rate</a:t>
            </a:r>
            <a:r>
              <a:rPr lang="en-IN" dirty="0"/>
              <a:t>, transmission]</a:t>
            </a:r>
          </a:p>
          <a:p>
            <a:r>
              <a:rPr lang="en-IN" dirty="0"/>
              <a:t>Cleaning:</a:t>
            </a:r>
          </a:p>
          <a:p>
            <a:pPr lvl="1"/>
            <a:r>
              <a:rPr lang="en-IN" dirty="0"/>
              <a:t>drop missing values</a:t>
            </a:r>
          </a:p>
          <a:p>
            <a:pPr lvl="1"/>
            <a:r>
              <a:rPr lang="en-IN" dirty="0"/>
              <a:t>filter negative SKR (invalid)</a:t>
            </a:r>
          </a:p>
          <a:p>
            <a:pPr lvl="1"/>
            <a:r>
              <a:rPr lang="en-IN" dirty="0"/>
              <a:t>remove extreme outliers (&gt; 3</a:t>
            </a:r>
            <a:r>
              <a:rPr lang="el-GR" dirty="0"/>
              <a:t>σ) </a:t>
            </a:r>
            <a:r>
              <a:rPr lang="en-IN" dirty="0"/>
              <a:t>on distance, noise, and SKR</a:t>
            </a:r>
          </a:p>
          <a:p>
            <a:r>
              <a:rPr lang="en-IN" dirty="0"/>
              <a:t>Encoding:</a:t>
            </a:r>
          </a:p>
          <a:p>
            <a:pPr lvl="1"/>
            <a:r>
              <a:rPr lang="en-IN" dirty="0" err="1"/>
              <a:t>LabelEncoder</a:t>
            </a:r>
            <a:r>
              <a:rPr lang="en-IN" dirty="0"/>
              <a:t> for protocols → </a:t>
            </a:r>
            <a:r>
              <a:rPr lang="en-IN" dirty="0" err="1"/>
              <a:t>protocol_encoded</a:t>
            </a:r>
            <a:endParaRPr lang="en-IN" dirty="0"/>
          </a:p>
          <a:p>
            <a:pPr lvl="1"/>
            <a:r>
              <a:rPr lang="en-IN" dirty="0" err="1"/>
              <a:t>LabelEncoder</a:t>
            </a:r>
            <a:r>
              <a:rPr lang="en-IN" dirty="0"/>
              <a:t> for platforms → </a:t>
            </a:r>
            <a:r>
              <a:rPr lang="en-IN" dirty="0" err="1"/>
              <a:t>platform_encoded</a:t>
            </a:r>
            <a:endParaRPr lang="en-IN" dirty="0"/>
          </a:p>
          <a:p>
            <a:r>
              <a:rPr lang="en-IN" dirty="0"/>
              <a:t>Scaling:</a:t>
            </a:r>
          </a:p>
          <a:p>
            <a:pPr lvl="1"/>
            <a:r>
              <a:rPr lang="en-IN" dirty="0" err="1"/>
              <a:t>StandardScaler</a:t>
            </a:r>
            <a:r>
              <a:rPr lang="en-IN" dirty="0"/>
              <a:t> on </a:t>
            </a:r>
            <a:r>
              <a:rPr lang="en-IN" dirty="0" err="1"/>
              <a:t>distance_km</a:t>
            </a:r>
            <a:r>
              <a:rPr lang="en-IN" dirty="0"/>
              <a:t> and </a:t>
            </a:r>
            <a:r>
              <a:rPr lang="en-IN" dirty="0" err="1"/>
              <a:t>noise_factor</a:t>
            </a:r>
            <a:endParaRPr lang="en-IN" dirty="0"/>
          </a:p>
          <a:p>
            <a:r>
              <a:rPr lang="en-IN" dirty="0"/>
              <a:t>Saved artifacts to result/:</a:t>
            </a:r>
          </a:p>
          <a:p>
            <a:r>
              <a:rPr lang="en-IN" dirty="0" err="1"/>
              <a:t>label_encoder.pkl</a:t>
            </a:r>
            <a:r>
              <a:rPr lang="en-IN" dirty="0"/>
              <a:t>, </a:t>
            </a:r>
            <a:r>
              <a:rPr lang="en-IN" dirty="0" err="1"/>
              <a:t>platform_encoder.pkl</a:t>
            </a:r>
            <a:r>
              <a:rPr lang="en-IN" dirty="0"/>
              <a:t>, </a:t>
            </a:r>
            <a:r>
              <a:rPr lang="en-IN" dirty="0" err="1"/>
              <a:t>scaler.pkl</a:t>
            </a:r>
            <a:r>
              <a:rPr lang="en-IN" dirty="0"/>
              <a:t>, </a:t>
            </a:r>
            <a:r>
              <a:rPr lang="en-IN" dirty="0" err="1"/>
              <a:t>data_stats.pkl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7434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2935E-42FC-3742-DAB0-55512AF52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Deep Learning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FF06B-BFCF-583D-6844-DAE9C32E7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Model type: Fully-connected feed-forward neural network (MLP) for tabular data</a:t>
            </a:r>
          </a:p>
          <a:p>
            <a:r>
              <a:rPr lang="en-IN" dirty="0"/>
              <a:t>Input vector (shape = 4): [</a:t>
            </a:r>
            <a:r>
              <a:rPr lang="en-IN" dirty="0" err="1"/>
              <a:t>protocol_encoded</a:t>
            </a:r>
            <a:r>
              <a:rPr lang="en-IN" dirty="0"/>
              <a:t>, </a:t>
            </a:r>
            <a:r>
              <a:rPr lang="en-IN" dirty="0" err="1"/>
              <a:t>platform_encoded</a:t>
            </a:r>
            <a:r>
              <a:rPr lang="en-IN" dirty="0"/>
              <a:t>, </a:t>
            </a:r>
            <a:r>
              <a:rPr lang="en-IN" dirty="0" err="1"/>
              <a:t>distance_scaled</a:t>
            </a:r>
            <a:r>
              <a:rPr lang="en-IN" dirty="0"/>
              <a:t>, </a:t>
            </a:r>
            <a:r>
              <a:rPr lang="en-IN" dirty="0" err="1"/>
              <a:t>noise_scaled</a:t>
            </a:r>
            <a:r>
              <a:rPr lang="en-IN" dirty="0"/>
              <a:t>]</a:t>
            </a:r>
          </a:p>
          <a:p>
            <a:r>
              <a:rPr lang="en-IN" dirty="0"/>
              <a:t>Hidden layers (</a:t>
            </a:r>
            <a:r>
              <a:rPr lang="en-IN" dirty="0" err="1"/>
              <a:t>ReLU</a:t>
            </a:r>
            <a:r>
              <a:rPr lang="en-IN" dirty="0"/>
              <a:t>): 128 → 64 → 32 → 16</a:t>
            </a:r>
          </a:p>
          <a:p>
            <a:r>
              <a:rPr lang="en-IN" dirty="0"/>
              <a:t>Regularization for stability/generalization:</a:t>
            </a:r>
          </a:p>
          <a:p>
            <a:pPr lvl="1"/>
            <a:r>
              <a:rPr lang="en-IN" dirty="0"/>
              <a:t>L2 weight decay on first layers (l2 = 0.001)</a:t>
            </a:r>
          </a:p>
          <a:p>
            <a:pPr lvl="1"/>
            <a:r>
              <a:rPr lang="en-IN" dirty="0"/>
              <a:t>Batch Normalization after dense layers</a:t>
            </a:r>
          </a:p>
          <a:p>
            <a:pPr lvl="1"/>
            <a:r>
              <a:rPr lang="en-IN" dirty="0"/>
              <a:t>Dropout: 0.2, 0.2, 0.1</a:t>
            </a:r>
          </a:p>
          <a:p>
            <a:r>
              <a:rPr lang="en-IN" dirty="0"/>
              <a:t>Output layer: Dense(2) with linear activation (SKR, transmission)</a:t>
            </a:r>
          </a:p>
        </p:txBody>
      </p:sp>
    </p:spTree>
    <p:extLst>
      <p:ext uri="{BB962C8B-B14F-4D97-AF65-F5344CB8AC3E}">
        <p14:creationId xmlns:p14="http://schemas.microsoft.com/office/powerpoint/2010/main" val="750015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4C16E-CFDC-47E8-04D8-1ADCF63C2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49090"/>
            <a:ext cx="9905998" cy="1478570"/>
          </a:xfrm>
        </p:spPr>
        <p:txBody>
          <a:bodyPr/>
          <a:lstStyle/>
          <a:p>
            <a:pPr algn="ctr"/>
            <a:r>
              <a:rPr lang="en-US" dirty="0"/>
              <a:t>Model Architecture diagram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3BD56B-ACE6-52C6-2C12-171278B54C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7573" y="1472021"/>
            <a:ext cx="8996853" cy="490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578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5B6B-4F86-BB81-58ED-8972EE89E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Training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D60AA-3AE8-48ED-417F-0948A66F8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85000" lnSpcReduction="10000"/>
          </a:bodyPr>
          <a:lstStyle/>
          <a:p>
            <a:r>
              <a:rPr lang="en-IN" dirty="0"/>
              <a:t>Optimizer: Adam (</a:t>
            </a:r>
            <a:r>
              <a:rPr lang="en-IN" dirty="0" err="1"/>
              <a:t>learning_rate</a:t>
            </a:r>
            <a:r>
              <a:rPr lang="en-IN" dirty="0"/>
              <a:t> = 0.001)</a:t>
            </a:r>
          </a:p>
          <a:p>
            <a:r>
              <a:rPr lang="en-IN" dirty="0"/>
              <a:t>Loss: Mean Squared Error (MSE)</a:t>
            </a:r>
          </a:p>
          <a:p>
            <a:r>
              <a:rPr lang="en-IN" dirty="0"/>
              <a:t>Metrics tracked: MAE, MSE (plus custom evaluation metrics after training)</a:t>
            </a:r>
          </a:p>
          <a:p>
            <a:r>
              <a:rPr lang="en-IN" dirty="0"/>
              <a:t>Hyperparameters (saved):</a:t>
            </a:r>
          </a:p>
          <a:p>
            <a:pPr lvl="1"/>
            <a:r>
              <a:rPr lang="en-IN" dirty="0"/>
              <a:t>epochs = 200, </a:t>
            </a:r>
            <a:r>
              <a:rPr lang="en-IN" dirty="0" err="1"/>
              <a:t>batch_size</a:t>
            </a:r>
            <a:r>
              <a:rPr lang="en-IN" dirty="0"/>
              <a:t> = 32</a:t>
            </a:r>
          </a:p>
          <a:p>
            <a:pPr lvl="1"/>
            <a:r>
              <a:rPr lang="en-IN" dirty="0" err="1"/>
              <a:t>validation_split</a:t>
            </a:r>
            <a:r>
              <a:rPr lang="en-IN" dirty="0"/>
              <a:t> = 0.2 (from training set)</a:t>
            </a:r>
          </a:p>
          <a:p>
            <a:pPr lvl="1"/>
            <a:r>
              <a:rPr lang="en-IN" dirty="0" err="1"/>
              <a:t>test_size</a:t>
            </a:r>
            <a:r>
              <a:rPr lang="en-IN" dirty="0"/>
              <a:t> = 0.2 (held-out test)</a:t>
            </a:r>
          </a:p>
          <a:p>
            <a:r>
              <a:rPr lang="en-IN" dirty="0"/>
              <a:t>Reproducibility:</a:t>
            </a:r>
          </a:p>
          <a:p>
            <a:pPr lvl="1"/>
            <a:r>
              <a:rPr lang="en-IN" dirty="0"/>
              <a:t>seed (meaning): a fixed starting value for a pseudo-random number generator so “random” steps repeat.</a:t>
            </a:r>
          </a:p>
          <a:p>
            <a:pPr lvl="1"/>
            <a:r>
              <a:rPr lang="en-IN" dirty="0"/>
              <a:t>NumPy seed = 42: makes NumPy-based randomness repeatable (e.g., shuffling/sampling/splits).</a:t>
            </a:r>
          </a:p>
          <a:p>
            <a:pPr lvl="1"/>
            <a:r>
              <a:rPr lang="en-IN" dirty="0"/>
              <a:t>TensorFlow seed = 42 (when TF available): makes TF/</a:t>
            </a:r>
            <a:r>
              <a:rPr lang="en-IN" dirty="0" err="1"/>
              <a:t>Keras</a:t>
            </a:r>
            <a:r>
              <a:rPr lang="en-IN" dirty="0"/>
              <a:t> randomness more repeatable (e.g., weight </a:t>
            </a:r>
            <a:r>
              <a:rPr lang="en-IN" dirty="0" err="1"/>
              <a:t>init</a:t>
            </a:r>
            <a:r>
              <a:rPr lang="en-IN" dirty="0"/>
              <a:t>/dropout).</a:t>
            </a:r>
          </a:p>
        </p:txBody>
      </p:sp>
    </p:spTree>
    <p:extLst>
      <p:ext uri="{BB962C8B-B14F-4D97-AF65-F5344CB8AC3E}">
        <p14:creationId xmlns:p14="http://schemas.microsoft.com/office/powerpoint/2010/main" val="1700199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B2DBA-313B-745B-4ED7-700181176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85899"/>
            <a:ext cx="9905998" cy="1478570"/>
          </a:xfrm>
        </p:spPr>
        <p:txBody>
          <a:bodyPr/>
          <a:lstStyle/>
          <a:p>
            <a:pPr algn="ctr"/>
            <a:r>
              <a:rPr lang="en-IN" dirty="0"/>
              <a:t>Training “Safety Nets” (Callbacks)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F3376-91D1-FD95-3F9D-36EF33E47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404" y="1423575"/>
            <a:ext cx="10417854" cy="4800243"/>
          </a:xfrm>
        </p:spPr>
        <p:txBody>
          <a:bodyPr numCol="2">
            <a:normAutofit/>
          </a:bodyPr>
          <a:lstStyle/>
          <a:p>
            <a:r>
              <a:rPr lang="en-US" sz="1200" dirty="0" err="1"/>
              <a:t>EarlyStopping</a:t>
            </a:r>
            <a:r>
              <a:rPr lang="en-US" sz="1200" dirty="0"/>
              <a:t>:</a:t>
            </a:r>
          </a:p>
          <a:p>
            <a:pPr lvl="1"/>
            <a:r>
              <a:rPr lang="en-US" sz="1000" dirty="0"/>
              <a:t>monitor = </a:t>
            </a:r>
            <a:r>
              <a:rPr lang="en-US" sz="1000" dirty="0" err="1"/>
              <a:t>val_loss</a:t>
            </a:r>
            <a:endParaRPr lang="en-US" sz="1000" dirty="0"/>
          </a:p>
          <a:p>
            <a:pPr lvl="1"/>
            <a:r>
              <a:rPr lang="en-US" sz="1000" dirty="0"/>
              <a:t>patience = 20</a:t>
            </a:r>
          </a:p>
          <a:p>
            <a:pPr lvl="1"/>
            <a:r>
              <a:rPr lang="en-US" sz="1000" dirty="0" err="1"/>
              <a:t>restore_best_weights</a:t>
            </a:r>
            <a:r>
              <a:rPr lang="en-US" sz="1000" dirty="0"/>
              <a:t> = True</a:t>
            </a:r>
          </a:p>
          <a:p>
            <a:r>
              <a:rPr lang="en-US" sz="1200" dirty="0" err="1"/>
              <a:t>ReduceLROnPlateau</a:t>
            </a:r>
            <a:r>
              <a:rPr lang="en-US" sz="1200" dirty="0"/>
              <a:t>:</a:t>
            </a:r>
          </a:p>
          <a:p>
            <a:pPr lvl="1"/>
            <a:r>
              <a:rPr lang="en-US" sz="1000" dirty="0"/>
              <a:t>monitor = </a:t>
            </a:r>
            <a:r>
              <a:rPr lang="en-US" sz="1000" dirty="0" err="1"/>
              <a:t>val_loss</a:t>
            </a:r>
            <a:endParaRPr lang="en-US" sz="1000" dirty="0"/>
          </a:p>
          <a:p>
            <a:pPr lvl="1"/>
            <a:r>
              <a:rPr lang="en-US" sz="1000" dirty="0"/>
              <a:t>factor = 0.5, patience = 10</a:t>
            </a:r>
          </a:p>
          <a:p>
            <a:pPr lvl="1"/>
            <a:r>
              <a:rPr lang="en-US" sz="1000" dirty="0" err="1"/>
              <a:t>min_lr</a:t>
            </a:r>
            <a:r>
              <a:rPr lang="en-US" sz="1000" dirty="0"/>
              <a:t> = 1e-6</a:t>
            </a:r>
          </a:p>
          <a:p>
            <a:r>
              <a:rPr lang="en-US" sz="1200" dirty="0" err="1"/>
              <a:t>ModelCheckpoint</a:t>
            </a:r>
            <a:r>
              <a:rPr lang="en-US" sz="1200" dirty="0"/>
              <a:t>:</a:t>
            </a:r>
          </a:p>
          <a:p>
            <a:pPr lvl="1"/>
            <a:r>
              <a:rPr lang="en-US" sz="1000" dirty="0"/>
              <a:t>saves best model by </a:t>
            </a:r>
            <a:r>
              <a:rPr lang="en-US" sz="1000" dirty="0" err="1"/>
              <a:t>val_loss</a:t>
            </a:r>
            <a:r>
              <a:rPr lang="en-US" sz="1000" dirty="0"/>
              <a:t> → result/</a:t>
            </a:r>
            <a:r>
              <a:rPr lang="en-US" sz="1000" dirty="0" err="1"/>
              <a:t>best_model.keras</a:t>
            </a:r>
            <a:endParaRPr lang="en-US" sz="10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Quick definitions (Slide 7 terms):</a:t>
            </a:r>
          </a:p>
          <a:p>
            <a:r>
              <a:rPr lang="en-US" sz="1200" dirty="0"/>
              <a:t>Callback: a training “hook” that runs automatically during training (e.g., end of each epoch) to control learning.</a:t>
            </a:r>
          </a:p>
          <a:p>
            <a:r>
              <a:rPr lang="en-US" sz="1200" dirty="0"/>
              <a:t>monitor: which metric we watch to decide when to stop / reduce LR / save the model.</a:t>
            </a:r>
          </a:p>
          <a:p>
            <a:r>
              <a:rPr lang="en-US" sz="1200" dirty="0" err="1"/>
              <a:t>val_loss</a:t>
            </a:r>
            <a:r>
              <a:rPr lang="en-US" sz="1200" dirty="0"/>
              <a:t>: loss computed on the validation set (unseen during weight updates); used as a proxy for generalization.</a:t>
            </a:r>
          </a:p>
          <a:p>
            <a:r>
              <a:rPr lang="en-US" sz="1200" dirty="0"/>
              <a:t>patience: number of epochs to wait without improvement before triggering an action.</a:t>
            </a:r>
          </a:p>
          <a:p>
            <a:r>
              <a:rPr lang="en-US" sz="1200" dirty="0" err="1"/>
              <a:t>restore_best_weights</a:t>
            </a:r>
            <a:r>
              <a:rPr lang="en-US" sz="1200" dirty="0"/>
              <a:t>: after stopping, reload the weights from the epoch with the best monitored metric.</a:t>
            </a:r>
          </a:p>
          <a:p>
            <a:r>
              <a:rPr lang="en-US" sz="1200" dirty="0" err="1"/>
              <a:t>ReduceLROnPlateau</a:t>
            </a:r>
            <a:r>
              <a:rPr lang="en-US" sz="1200" dirty="0"/>
              <a:t>: lowers the learning rate when progress stalls (helps fine-tune toward a better minimum).</a:t>
            </a:r>
          </a:p>
          <a:p>
            <a:r>
              <a:rPr lang="en-US" sz="1200" dirty="0"/>
              <a:t>factor: multiplier applied to the learning rate when reducing it (</a:t>
            </a:r>
            <a:r>
              <a:rPr lang="en-US" sz="1200" dirty="0" err="1"/>
              <a:t>new_lr</a:t>
            </a:r>
            <a:r>
              <a:rPr lang="en-US" sz="1200" dirty="0"/>
              <a:t> = </a:t>
            </a:r>
            <a:r>
              <a:rPr lang="en-US" sz="1200" dirty="0" err="1"/>
              <a:t>lr</a:t>
            </a:r>
            <a:r>
              <a:rPr lang="en-US" sz="1200" dirty="0"/>
              <a:t> × factor).</a:t>
            </a:r>
          </a:p>
          <a:p>
            <a:r>
              <a:rPr lang="en-US" sz="1200" dirty="0" err="1"/>
              <a:t>min_lr</a:t>
            </a:r>
            <a:r>
              <a:rPr lang="en-US" sz="1200" dirty="0"/>
              <a:t>: lower bound so learning rate doesn’t become too small.</a:t>
            </a:r>
          </a:p>
          <a:p>
            <a:r>
              <a:rPr lang="en-US" sz="1200" dirty="0" err="1"/>
              <a:t>ModelCheckpoint</a:t>
            </a:r>
            <a:r>
              <a:rPr lang="en-US" sz="1200" dirty="0"/>
              <a:t>: saves a snapshot of the best model so we can deploy the best-performing version.</a:t>
            </a:r>
          </a:p>
          <a:p>
            <a:endParaRPr lang="en-US" sz="1200" dirty="0"/>
          </a:p>
          <a:p>
            <a:r>
              <a:rPr lang="en-US" sz="1200" dirty="0"/>
              <a:t>Key benefit: avoids overfitting + stabilizes convergence on noisy simulated data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153511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8A2B9-8171-CF04-C75B-AB63B3F45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CC5DC-8F92-B6B6-00CC-2DEAECDE9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Secure Key Rate (SKR):</a:t>
            </a:r>
          </a:p>
          <a:p>
            <a:pPr lvl="1"/>
            <a:r>
              <a:rPr lang="en-US" dirty="0"/>
              <a:t>R² = 0.9320</a:t>
            </a:r>
          </a:p>
          <a:p>
            <a:pPr lvl="1"/>
            <a:r>
              <a:rPr lang="en-US" dirty="0"/>
              <a:t>MAE = 0.0269</a:t>
            </a:r>
          </a:p>
          <a:p>
            <a:r>
              <a:rPr lang="en-US" dirty="0"/>
              <a:t>Transmission:</a:t>
            </a:r>
          </a:p>
          <a:p>
            <a:pPr lvl="1"/>
            <a:r>
              <a:rPr lang="en-US" dirty="0"/>
              <a:t>R² = 0.9918</a:t>
            </a:r>
          </a:p>
          <a:p>
            <a:pPr lvl="1"/>
            <a:r>
              <a:rPr lang="en-US" dirty="0"/>
              <a:t>MAE = 0.0133</a:t>
            </a:r>
          </a:p>
          <a:p>
            <a:r>
              <a:rPr lang="en-US" dirty="0"/>
              <a:t>Overall (average across outputs):</a:t>
            </a:r>
          </a:p>
          <a:p>
            <a:pPr lvl="1"/>
            <a:r>
              <a:rPr lang="en-US" dirty="0"/>
              <a:t>R² = 0.9619 (meets &gt;0.90 target)</a:t>
            </a:r>
          </a:p>
          <a:p>
            <a:pPr lvl="1"/>
            <a:r>
              <a:rPr lang="en-US" dirty="0"/>
              <a:t>MAE = 0.0201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224B3D-B9CF-1670-E648-BC88D6E3B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1" y="1972635"/>
            <a:ext cx="4675245" cy="426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833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B2403-9038-424B-5740-EC316F730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Inference &amp; Protocol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02102-72D5-1A25-5DEA-EAF95BD1E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For a given (architecture, distance, noise):</a:t>
            </a:r>
          </a:p>
          <a:p>
            <a:pPr lvl="1"/>
            <a:r>
              <a:rPr lang="en-IN" dirty="0"/>
              <a:t>loop over all 10 protocols</a:t>
            </a:r>
          </a:p>
          <a:p>
            <a:pPr lvl="1"/>
            <a:r>
              <a:rPr lang="en-IN" dirty="0"/>
              <a:t>preprocess each candidate input with the SAME saved encoders/scaler</a:t>
            </a:r>
          </a:p>
          <a:p>
            <a:pPr lvl="1"/>
            <a:r>
              <a:rPr lang="en-IN" dirty="0"/>
              <a:t>predict (SKR, transmission)</a:t>
            </a:r>
          </a:p>
          <a:p>
            <a:pPr lvl="1"/>
            <a:r>
              <a:rPr lang="en-IN" dirty="0"/>
              <a:t>rank protocols by predicted SKR (descending)</a:t>
            </a:r>
          </a:p>
          <a:p>
            <a:r>
              <a:rPr lang="en-IN" dirty="0"/>
              <a:t>User-facing result: </a:t>
            </a:r>
          </a:p>
          <a:p>
            <a:pPr lvl="1"/>
            <a:r>
              <a:rPr lang="en-IN" dirty="0"/>
              <a:t>Top-3 recommended protocols + full comparison table</a:t>
            </a:r>
          </a:p>
        </p:txBody>
      </p:sp>
    </p:spTree>
    <p:extLst>
      <p:ext uri="{BB962C8B-B14F-4D97-AF65-F5344CB8AC3E}">
        <p14:creationId xmlns:p14="http://schemas.microsoft.com/office/powerpoint/2010/main" val="2199979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6A2B54-ADED-23D2-4B9C-C0CA94E3F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6256" y="2841522"/>
            <a:ext cx="8791575" cy="1150221"/>
          </a:xfrm>
        </p:spPr>
        <p:txBody>
          <a:bodyPr>
            <a:normAutofit/>
          </a:bodyPr>
          <a:lstStyle/>
          <a:p>
            <a:r>
              <a:rPr lang="en-US" sz="6000" dirty="0"/>
              <a:t>THANK YOU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33521746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583</TotalTime>
  <Words>944</Words>
  <Application>Microsoft Office PowerPoint</Application>
  <PresentationFormat>Widescreen</PresentationFormat>
  <Paragraphs>116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Tw Cen MT</vt:lpstr>
      <vt:lpstr>Circuit</vt:lpstr>
      <vt:lpstr>CAH-QKD: Context-Adaptive Hybrid Quantum Key Distribution with Machine Learning-Based Protocol Selection</vt:lpstr>
      <vt:lpstr>Problem Statement</vt:lpstr>
      <vt:lpstr>What the Model Learns (Inputs → Outputs)</vt:lpstr>
      <vt:lpstr>Data Sources &amp; Coverage</vt:lpstr>
      <vt:lpstr>Preprocessing Pipeline</vt:lpstr>
      <vt:lpstr>Deep Learning Architecture</vt:lpstr>
      <vt:lpstr>Model Architecture diagram</vt:lpstr>
      <vt:lpstr>Training Setup</vt:lpstr>
      <vt:lpstr>Training “Safety Nets” (Callbacks)</vt:lpstr>
      <vt:lpstr>Performance</vt:lpstr>
      <vt:lpstr>Inference &amp; Protocol Recommendation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Aayush Thorat</dc:creator>
  <cp:lastModifiedBy>Aayush Thorat</cp:lastModifiedBy>
  <cp:revision>3</cp:revision>
  <dcterms:created xsi:type="dcterms:W3CDTF">2026-05-04T18:45:13Z</dcterms:created>
  <dcterms:modified xsi:type="dcterms:W3CDTF">2026-05-05T04:28:34Z</dcterms:modified>
</cp:coreProperties>
</file>